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8EAED"/>
                </a:solidFill>
                <a:latin typeface="Helvetica Neue"/>
              </a:rPr>
              <a:t>Car Review Sentiment Analyzer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9AA0AA"/>
                </a:solidFill>
                <a:latin typeface="Helvetica Neue"/>
              </a:rPr>
              <a:t>Per-aspect sentiment for owner reviews, with evaluation at the core.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0AA"/>
                </a:solidFill>
                <a:latin typeface="Helvetica Neue"/>
              </a:rPr>
              <a:t>Can Machines Understand Us Reliably?</a:t>
            </a:r>
            <a:r>
              <a:rPr sz="1600" b="0">
                <a:solidFill>
                  <a:srgbClr val="9AA0AA"/>
                </a:solidFill>
                <a:latin typeface="Helvetica Neue"/>
              </a:rPr>
              <a:t>     Module 2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AED"/>
                </a:solidFill>
                <a:latin typeface="Helvetica Neue"/>
              </a:rPr>
              <a:t>Hanfu Zhao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9EFF"/>
                </a:solidFill>
                <a:latin typeface="Helvetica Neue"/>
              </a:rPr>
              <a:t>Live demo:  https://HanfuZhao781-car-review-sentiment.hf.space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0AA"/>
                </a:solidFill>
                <a:latin typeface="Helvetica Neue"/>
              </a:rPr>
              <a:t>Code:  https://github.com/hanfuzhao/Module2-CarReviewSentiment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ED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AED"/>
                </a:solidFill>
                <a:latin typeface="Helvetica Neue"/>
              </a:rPr>
              <a:t>Platforms like </a:t>
            </a:r>
            <a:r>
              <a:rPr sz="2000" b="1">
                <a:solidFill>
                  <a:srgbClr val="4A9EFF"/>
                </a:solidFill>
                <a:latin typeface="Helvetica Neue"/>
              </a:rPr>
              <a:t>Dongchedi</a:t>
            </a:r>
            <a:r>
              <a:rPr sz="2000" b="0">
                <a:solidFill>
                  <a:srgbClr val="E8EAED"/>
                </a:solidFill>
                <a:latin typeface="Helvetica Neue"/>
              </a:rPr>
              <a:t> turn thousands of owner reviews into </a:t>
            </a:r>
            <a:r>
              <a:rPr sz="2000" b="1">
                <a:solidFill>
                  <a:srgbClr val="4A9EFF"/>
                </a:solidFill>
                <a:latin typeface="Helvetica Neue"/>
              </a:rPr>
              <a:t>per-dimension</a:t>
            </a:r>
            <a:r>
              <a:rPr sz="2000" b="0">
                <a:solidFill>
                  <a:srgbClr val="E8EAED"/>
                </a:solidFill>
                <a:latin typeface="Helvetica Neue"/>
              </a:rPr>
              <a:t> ratings for engine, comfort, and value that buyers trust.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E8EAED"/>
                </a:solidFill>
                <a:latin typeface="Helvetica Neue"/>
              </a:rPr>
              <a:t>Those ratings come from a sentiment model. Misread one review and the error is averaged into a public rating thousands of people see.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E8EAED"/>
                </a:solidFill>
                <a:latin typeface="Helvetica Neue"/>
              </a:rPr>
              <a:t>Two notorious failure modes: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D9534F"/>
                </a:solidFill>
                <a:latin typeface="Helvetica Neue"/>
              </a:rPr>
              <a:t>- Negation</a:t>
            </a:r>
            <a:r>
              <a:rPr sz="1900" b="0">
                <a:solidFill>
                  <a:srgbClr val="E8EAED"/>
                </a:solidFill>
                <a:latin typeface="Helvetica Neue"/>
              </a:rPr>
              <a:t>, the brakes are not good</a:t>
            </a:r>
          </a:p>
          <a:p>
            <a:pPr algn="l">
              <a:spcAft>
                <a:spcPts val="1800"/>
              </a:spcAft>
            </a:pPr>
            <a:r>
              <a:rPr sz="1900" b="1">
                <a:solidFill>
                  <a:srgbClr val="D9534F"/>
                </a:solidFill>
                <a:latin typeface="Helvetica Neue"/>
              </a:rPr>
              <a:t>- Sarcasm</a:t>
            </a:r>
            <a:r>
              <a:rPr sz="1900" b="0">
                <a:solidFill>
                  <a:srgbClr val="E8EAED"/>
                </a:solidFill>
                <a:latin typeface="Helvetica Neue"/>
              </a:rPr>
              <a:t>, great, another trip to the dealer this week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9AA0AA"/>
                </a:solidFill>
                <a:latin typeface="Helvetica Neue"/>
              </a:rPr>
              <a:t>So this is a sentiment classifier where the real work is </a:t>
            </a:r>
            <a:r>
              <a:rPr sz="2000" b="1">
                <a:solidFill>
                  <a:srgbClr val="4A9EFF"/>
                </a:solidFill>
                <a:latin typeface="Helvetica Neue"/>
              </a:rPr>
              <a:t>measuring where it breaks.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ED"/>
                </a:solidFill>
                <a:latin typeface="Helvetica Neue"/>
              </a:rPr>
              <a:t>Approach: </a:t>
            </a:r>
            <a:r>
              <a:rPr sz="3000" b="1">
                <a:solidFill>
                  <a:srgbClr val="4A9EFF"/>
                </a:solidFill>
                <a:latin typeface="Helvetica Neue"/>
              </a:rPr>
              <a:t>3 models plus transfer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9AA0AA"/>
                </a:solidFill>
                <a:latin typeface="Helvetica Neue"/>
              </a:rPr>
              <a:t>Data:  </a:t>
            </a:r>
            <a:r>
              <a:rPr sz="1800" b="0">
                <a:solidFill>
                  <a:srgbClr val="E8EAED"/>
                </a:solidFill>
                <a:latin typeface="Helvetica Neue"/>
              </a:rPr>
              <a:t>36,518 real Edmunds owner reviews. 3-class labels from the 1 to 5 star rating.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88920"/>
            <a:ext cx="3383280" cy="1737360"/>
          </a:xfrm>
          <a:prstGeom prst="roundRect">
            <a:avLst/>
          </a:prstGeom>
          <a:solidFill>
            <a:srgbClr val="1A1D24"/>
          </a:solidFill>
          <a:ln>
            <a:solidFill>
              <a:srgbClr val="1A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8EAED"/>
                </a:solidFill>
                <a:latin typeface="Helvetica Neue"/>
              </a:rPr>
              <a:t>Naive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AA0AA"/>
                </a:solidFill>
                <a:latin typeface="Helvetica Neue"/>
              </a:rPr>
              <a:t>majority class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AA0AA"/>
                </a:solidFill>
                <a:latin typeface="Helvetica Neue"/>
              </a:rPr>
              <a:t>the floor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788920"/>
            <a:ext cx="3383280" cy="1737360"/>
          </a:xfrm>
          <a:prstGeom prst="roundRect">
            <a:avLst/>
          </a:prstGeom>
          <a:solidFill>
            <a:srgbClr val="1A1D24"/>
          </a:solidFill>
          <a:ln>
            <a:solidFill>
              <a:srgbClr val="1A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8EAED"/>
                </a:solidFill>
                <a:latin typeface="Helvetica Neue"/>
              </a:rPr>
              <a:t>Classical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AA0AA"/>
                </a:solidFill>
                <a:latin typeface="Helvetica Neue"/>
              </a:rPr>
              <a:t>TF-IDF plus logistic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AA0AA"/>
                </a:solidFill>
                <a:latin typeface="Helvetica Neue"/>
              </a:rPr>
              <a:t>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88920"/>
            <a:ext cx="3383280" cy="1737360"/>
          </a:xfrm>
          <a:prstGeom prst="roundRect">
            <a:avLst/>
          </a:prstGeom>
          <a:solidFill>
            <a:srgbClr val="1E334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A9EFF"/>
                </a:solidFill>
                <a:latin typeface="Helvetica Neue"/>
              </a:rPr>
              <a:t>DistilBERT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AA0AA"/>
                </a:solidFill>
                <a:latin typeface="Helvetica Neue"/>
              </a:rPr>
              <a:t>fine-tuned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AA0AA"/>
                </a:solidFill>
                <a:latin typeface="Helvetica Neue"/>
              </a:rPr>
              <a:t>DEPLOYED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463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4A9EFF"/>
                </a:solidFill>
                <a:latin typeface="Helvetica Neue"/>
              </a:rPr>
              <a:t>Transfer learning:  </a:t>
            </a:r>
            <a:r>
              <a:rPr sz="1800" b="0">
                <a:solidFill>
                  <a:srgbClr val="E8EAED"/>
                </a:solidFill>
                <a:latin typeface="Helvetica Neue"/>
              </a:rPr>
              <a:t>start from distilbert-base-uncased, pretrained on general English, add a sentiment head, fine-tune on car reviews.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0AA"/>
                </a:solidFill>
                <a:latin typeface="Helvetica Neue"/>
              </a:rPr>
              <a:t>Plus a per-aspect </a:t>
            </a:r>
            <a:r>
              <a:rPr sz="1600" b="1">
                <a:solidFill>
                  <a:srgbClr val="4A9EFF"/>
                </a:solidFill>
                <a:latin typeface="Helvetica Neue"/>
              </a:rPr>
              <a:t>breakdown</a:t>
            </a:r>
            <a:r>
              <a:rPr sz="1600" b="0">
                <a:solidFill>
                  <a:srgbClr val="9AA0AA"/>
                </a:solidFill>
                <a:latin typeface="Helvetica Neue"/>
              </a:rPr>
              <a:t>, lexicon-routed clauses scored by the same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ED"/>
                </a:solidFill>
                <a:latin typeface="Helvetica Neue"/>
              </a:rPr>
              <a:t>Data augmentation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1">
                <a:solidFill>
                  <a:srgbClr val="F0AD4E"/>
                </a:solidFill>
                <a:latin typeface="Helvetica Neue"/>
              </a:rPr>
              <a:t>The catch:  </a:t>
            </a:r>
            <a:r>
              <a:rPr sz="2000" b="0">
                <a:solidFill>
                  <a:srgbClr val="E8EAED"/>
                </a:solidFill>
                <a:latin typeface="Helvetica Neue"/>
              </a:rPr>
              <a:t>the data is 86% positive. A model that always says positive scores about 86% accuracy and is useless.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E8EAED"/>
                </a:solidFill>
                <a:latin typeface="Helvetica Neue"/>
              </a:rPr>
              <a:t>To rescue the starved minority classes, EDA, Easy Data Augmentation: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8EAED"/>
                </a:solidFill>
                <a:latin typeface="Helvetica Neue"/>
              </a:rPr>
              <a:t>- synonym replacement with WordNet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8EAED"/>
                </a:solidFill>
                <a:latin typeface="Helvetica Neue"/>
              </a:rPr>
              <a:t>- random word swap and random deletion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E8EAED"/>
                </a:solidFill>
                <a:latin typeface="Helvetica Neue"/>
              </a:rPr>
              <a:t>- back-translation, English to German to English, for paraphrase diversity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9AA0AA"/>
                </a:solidFill>
                <a:latin typeface="Helvetica Neue"/>
              </a:rPr>
              <a:t>The interesting question is not whether to augment, it is </a:t>
            </a:r>
            <a:r>
              <a:rPr sz="2000" b="1">
                <a:solidFill>
                  <a:srgbClr val="4A9EFF"/>
                </a:solidFill>
                <a:latin typeface="Helvetica Neue"/>
              </a:rPr>
              <a:t>when it helps. Evaluation answered that.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ED"/>
                </a:solidFill>
                <a:latin typeface="Helvetica Neue"/>
              </a:rPr>
              <a:t>Results: </a:t>
            </a:r>
            <a:r>
              <a:rPr sz="3000" b="1">
                <a:solidFill>
                  <a:srgbClr val="4A9EFF"/>
                </a:solidFill>
                <a:latin typeface="Helvetica Neue"/>
              </a:rPr>
              <a:t>accuracy 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554480"/>
          <a:ext cx="675741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07592"/>
                <a:gridCol w="1307592"/>
                <a:gridCol w="1307592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8EAED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33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EAED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233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EAED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233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EAED"/>
                          </a:solidFill>
                        </a:rPr>
                        <a:t>Neg. recall</a:t>
                      </a:r>
                    </a:p>
                  </a:txBody>
                  <a:tcPr>
                    <a:solidFill>
                      <a:srgbClr val="2333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AED"/>
                          </a:solidFill>
                        </a:rPr>
                        <a:t>Naive, majority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8EAED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8EAED"/>
                          </a:solidFill>
                        </a:rPr>
                        <a:t>30.8%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8EAED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8EAED"/>
                          </a:solidFill>
                        </a:rPr>
                        <a:t>Classical TF-IDF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8EAED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8EAED"/>
                          </a:solidFill>
                        </a:rPr>
                        <a:t>57.2%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8EAED"/>
                          </a:solidFill>
                        </a:rPr>
                        <a:t>38.4%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8EAED"/>
                          </a:solidFill>
                        </a:rPr>
                        <a:t>DistilBERT, deployed</a:t>
                      </a:r>
                    </a:p>
                  </a:txBody>
                  <a:tcPr>
                    <a:solidFill>
                      <a:srgbClr val="1E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EAED"/>
                          </a:solidFill>
                        </a:rPr>
                        <a:t>87%</a:t>
                      </a:r>
                    </a:p>
                  </a:txBody>
                  <a:tcPr>
                    <a:solidFill>
                      <a:srgbClr val="1E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EAED"/>
                          </a:solidFill>
                        </a:rPr>
                        <a:t>56.6%</a:t>
                      </a:r>
                    </a:p>
                  </a:txBody>
                  <a:tcPr>
                    <a:solidFill>
                      <a:srgbClr val="1E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EAED"/>
                          </a:solidFill>
                        </a:rPr>
                        <a:t>34.8%</a:t>
                      </a:r>
                    </a:p>
                  </a:txBody>
                  <a:tcPr>
                    <a:solidFill>
                      <a:srgbClr val="1E33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0624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8EAED"/>
                </a:solidFill>
                <a:latin typeface="Helvetica Neue"/>
              </a:rPr>
              <a:t>Naive: 86% accuracy, </a:t>
            </a:r>
            <a:r>
              <a:rPr sz="1700" b="1">
                <a:solidFill>
                  <a:srgbClr val="D9534F"/>
                </a:solidFill>
                <a:latin typeface="Helvetica Neue"/>
              </a:rPr>
              <a:t>0% negative recall.</a:t>
            </a:r>
            <a:r>
              <a:rPr sz="1700" b="0">
                <a:solidFill>
                  <a:srgbClr val="E8EAED"/>
                </a:solidFill>
                <a:latin typeface="Helvetica Neue"/>
              </a:rPr>
              <a:t> Accuracy is the wrong metric on imbalanced data.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8EAED"/>
                </a:solidFill>
                <a:latin typeface="Helvetica Neue"/>
              </a:rPr>
              <a:t>What matters is macro-F1, which shows transfer learning working: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9AA0AA"/>
                </a:solidFill>
                <a:latin typeface="Helvetica Neue"/>
              </a:rPr>
              <a:t>30.8%</a:t>
            </a:r>
            <a:r>
              <a:rPr sz="1800" b="0">
                <a:solidFill>
                  <a:srgbClr val="9AA0AA"/>
                </a:solidFill>
                <a:latin typeface="Helvetica Neue"/>
              </a:rPr>
              <a:t>  to  </a:t>
            </a:r>
            <a:r>
              <a:rPr sz="1800" b="1">
                <a:solidFill>
                  <a:srgbClr val="E8EAED"/>
                </a:solidFill>
                <a:latin typeface="Helvetica Neue"/>
              </a:rPr>
              <a:t>57.2%</a:t>
            </a:r>
            <a:r>
              <a:rPr sz="1800" b="0">
                <a:solidFill>
                  <a:srgbClr val="9AA0AA"/>
                </a:solidFill>
                <a:latin typeface="Helvetica Neue"/>
              </a:rPr>
              <a:t>  to  </a:t>
            </a:r>
            <a:r>
              <a:rPr sz="1800" b="1">
                <a:solidFill>
                  <a:srgbClr val="4A9EFF"/>
                </a:solidFill>
                <a:latin typeface="Helvetica Neue"/>
              </a:rPr>
              <a:t>56.6%</a:t>
            </a:r>
            <a:r>
              <a:rPr sz="1800" b="0">
                <a:solidFill>
                  <a:srgbClr val="9AA0AA"/>
                </a:solidFill>
                <a:latin typeface="Helvetica Neue"/>
              </a:rPr>
              <a:t>   naive to classical to DistilBERT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43891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4663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AA0AA"/>
                </a:solidFill>
                <a:latin typeface="Helvetica Neue"/>
              </a:rPr>
              <a:t>14 to 1 class imbalance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ED"/>
                </a:solidFill>
                <a:latin typeface="Helvetica Neue"/>
              </a:rPr>
              <a:t>When does augmentation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8EAED"/>
                </a:solidFill>
                <a:latin typeface="Helvetica Neue"/>
              </a:rPr>
              <a:t>Cold-start regime, a newly-launched car with only </a:t>
            </a:r>
            <a:r>
              <a:rPr sz="1800" b="1">
                <a:solidFill>
                  <a:srgbClr val="4A9EFF"/>
                </a:solidFill>
                <a:latin typeface="Helvetica Neue"/>
              </a:rPr>
              <a:t>1,200 reviews</a:t>
            </a:r>
            <a:r>
              <a:rPr sz="1800" b="0">
                <a:solidFill>
                  <a:srgbClr val="E8EAED"/>
                </a:solidFill>
                <a:latin typeface="Helvetica Neue"/>
              </a:rPr>
              <a:t>, realistic for Dongchedi: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5212080" cy="3108960"/>
          </a:xfrm>
          <a:prstGeom prst="roundRect">
            <a:avLst/>
          </a:prstGeom>
          <a:solidFill>
            <a:srgbClr val="1A1D24"/>
          </a:solidFill>
          <a:ln>
            <a:solidFill>
              <a:srgbClr val="5C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5CB85C"/>
                </a:solidFill>
                <a:latin typeface="Helvetica Neue"/>
              </a:rPr>
              <a:t>Classical model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9AA0AA"/>
                </a:solidFill>
                <a:latin typeface="Helvetica Neue"/>
              </a:rPr>
              <a:t>macro-F1:   </a:t>
            </a:r>
            <a:r>
              <a:rPr sz="2000" b="1">
                <a:solidFill>
                  <a:srgbClr val="E8EAED"/>
                </a:solidFill>
                <a:latin typeface="Helvetica Neue"/>
              </a:rPr>
              <a:t>31.9%</a:t>
            </a:r>
            <a:r>
              <a:rPr sz="2000" b="0">
                <a:solidFill>
                  <a:srgbClr val="9AA0AA"/>
                </a:solidFill>
                <a:latin typeface="Helvetica Neue"/>
              </a:rPr>
              <a:t>  to  </a:t>
            </a:r>
            <a:r>
              <a:rPr sz="2000" b="1">
                <a:solidFill>
                  <a:srgbClr val="5CB85C"/>
                </a:solidFill>
                <a:latin typeface="Helvetica Neue"/>
              </a:rPr>
              <a:t>40.2%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5CB85C"/>
                </a:solidFill>
                <a:latin typeface="Helvetica Neue"/>
              </a:rPr>
              <a:t>Augmentation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377440"/>
            <a:ext cx="5212080" cy="3108960"/>
          </a:xfrm>
          <a:prstGeom prst="roundRect">
            <a:avLst/>
          </a:prstGeom>
          <a:solidFill>
            <a:srgbClr val="1A1D24"/>
          </a:solidFill>
          <a:ln>
            <a:solidFill>
              <a:srgbClr val="9A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9AA0AA"/>
                </a:solidFill>
                <a:latin typeface="Helvetica Neue"/>
              </a:rPr>
              <a:t>Transformer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9AA0AA"/>
                </a:solidFill>
                <a:latin typeface="Helvetica Neue"/>
              </a:rPr>
              <a:t>macro-F1:   </a:t>
            </a:r>
            <a:r>
              <a:rPr sz="2000" b="1">
                <a:solidFill>
                  <a:srgbClr val="E8EAED"/>
                </a:solidFill>
                <a:latin typeface="Helvetica Neue"/>
              </a:rPr>
              <a:t>51.1%</a:t>
            </a:r>
            <a:r>
              <a:rPr sz="2000" b="0">
                <a:solidFill>
                  <a:srgbClr val="9AA0AA"/>
                </a:solidFill>
                <a:latin typeface="Helvetica Neue"/>
              </a:rPr>
              <a:t>  to  </a:t>
            </a:r>
            <a:r>
              <a:rPr sz="2000" b="1">
                <a:solidFill>
                  <a:srgbClr val="9AA0AA"/>
                </a:solidFill>
                <a:latin typeface="Helvetica Neue"/>
              </a:rPr>
              <a:t>46.3%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F0AD4E"/>
                </a:solidFill>
                <a:latin typeface="Helvetica Neue"/>
              </a:rPr>
              <a:t>Already strong, no 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715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E8EAED"/>
                </a:solidFill>
                <a:latin typeface="Helvetica Neue"/>
              </a:rPr>
              <a:t>Same technique, opposite verdict. </a:t>
            </a:r>
            <a:r>
              <a:rPr sz="1900" b="1">
                <a:solidFill>
                  <a:srgbClr val="4A9EFF"/>
                </a:solidFill>
                <a:latin typeface="Helvetica Neue"/>
              </a:rPr>
              <a:t>Only rigorous evaluation could tell them apart.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ED"/>
                </a:solidFill>
                <a:latin typeface="Helvetica Neue"/>
              </a:rPr>
              <a:t>Stress tests </a:t>
            </a:r>
            <a:r>
              <a:rPr sz="3000" b="1">
                <a:solidFill>
                  <a:srgbClr val="4A9EFF"/>
                </a:solidFill>
                <a:latin typeface="Helvetica Neue"/>
              </a:rPr>
              <a:t>reveal the hard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46304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E8EAED"/>
                </a:solidFill>
                <a:latin typeface="Helvetica Neue"/>
              </a:rPr>
              <a:t>Hand-built linguistic stress tests expose what aggregate accuracy hides: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E8EAED"/>
                </a:solidFill>
                <a:latin typeface="Helvetica Neue"/>
              </a:rPr>
              <a:t>- Negation:  </a:t>
            </a:r>
            <a:r>
              <a:rPr sz="1900" b="0">
                <a:solidFill>
                  <a:srgbClr val="E8EAED"/>
                </a:solidFill>
                <a:latin typeface="Helvetica Neue"/>
              </a:rPr>
              <a:t>affirmative </a:t>
            </a:r>
            <a:r>
              <a:rPr sz="1900" b="1">
                <a:solidFill>
                  <a:srgbClr val="5CB85C"/>
                </a:solidFill>
                <a:latin typeface="Helvetica Neue"/>
              </a:rPr>
              <a:t>70%</a:t>
            </a:r>
            <a:r>
              <a:rPr sz="1900" b="0">
                <a:solidFill>
                  <a:srgbClr val="E8EAED"/>
                </a:solidFill>
                <a:latin typeface="Helvetica Neue"/>
              </a:rPr>
              <a:t>  versus negated </a:t>
            </a:r>
            <a:r>
              <a:rPr sz="1900" b="1">
                <a:solidFill>
                  <a:srgbClr val="D9534F"/>
                </a:solidFill>
                <a:latin typeface="Helvetica Neue"/>
              </a:rPr>
              <a:t>0%</a:t>
            </a:r>
          </a:p>
          <a:p>
            <a:pPr algn="l">
              <a:spcAft>
                <a:spcPts val="1800"/>
              </a:spcAft>
            </a:pPr>
            <a:r>
              <a:rPr sz="1900" b="1">
                <a:solidFill>
                  <a:srgbClr val="E8EAED"/>
                </a:solidFill>
                <a:latin typeface="Helvetica Neue"/>
              </a:rPr>
              <a:t>- Sarcasm:  </a:t>
            </a:r>
            <a:r>
              <a:rPr sz="1900" b="1">
                <a:solidFill>
                  <a:srgbClr val="D9534F"/>
                </a:solidFill>
                <a:latin typeface="Helvetica Neue"/>
              </a:rPr>
              <a:t>100%</a:t>
            </a:r>
            <a:r>
              <a:rPr sz="1900" b="0">
                <a:solidFill>
                  <a:srgbClr val="E8EAED"/>
                </a:solidFill>
                <a:latin typeface="Helvetica Neue"/>
              </a:rPr>
              <a:t> misread as positive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4A9EFF"/>
                </a:solidFill>
                <a:latin typeface="Helvetica Neue"/>
              </a:rPr>
              <a:t>The deployable fix, confidence-gated abstention: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E8EAED"/>
                </a:solidFill>
                <a:latin typeface="Helvetica Neue"/>
              </a:rPr>
              <a:t>accuracy </a:t>
            </a:r>
            <a:r>
              <a:rPr sz="1900" b="1">
                <a:solidFill>
                  <a:srgbClr val="E8EAED"/>
                </a:solidFill>
                <a:latin typeface="Helvetica Neue"/>
              </a:rPr>
              <a:t>86.7%</a:t>
            </a:r>
            <a:r>
              <a:rPr sz="1900" b="0">
                <a:solidFill>
                  <a:srgbClr val="9AA0AA"/>
                </a:solidFill>
                <a:latin typeface="Helvetica Neue"/>
              </a:rPr>
              <a:t>  to  </a:t>
            </a:r>
            <a:r>
              <a:rPr sz="1900" b="1">
                <a:solidFill>
                  <a:srgbClr val="5CB85C"/>
                </a:solidFill>
                <a:latin typeface="Helvetica Neue"/>
              </a:rPr>
              <a:t>97.7%</a:t>
            </a:r>
            <a:r>
              <a:rPr sz="1900" b="0">
                <a:solidFill>
                  <a:srgbClr val="9AA0AA"/>
                </a:solidFill>
                <a:latin typeface="Helvetica Neue"/>
              </a:rPr>
              <a:t>  at 77% coverage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0AA"/>
                </a:solidFill>
                <a:latin typeface="Helvetica Neue"/>
              </a:rPr>
              <a:t>low-confidence reviews are flagged for a human.</a:t>
            </a:r>
          </a:p>
        </p:txBody>
      </p:sp>
      <p:pic>
        <p:nvPicPr>
          <p:cNvPr id="5" name="Picture 4" descr="confusion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00200"/>
            <a:ext cx="2571750" cy="2286000"/>
          </a:xfrm>
          <a:prstGeom prst="rect">
            <a:avLst/>
          </a:prstGeom>
        </p:spPr>
      </p:pic>
      <p:pic>
        <p:nvPicPr>
          <p:cNvPr id="6" name="Picture 5" descr="absten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023360"/>
            <a:ext cx="28575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4A9EFF"/>
                </a:solidFill>
                <a:latin typeface="Helvetica Neue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AED"/>
                </a:solidFill>
                <a:latin typeface="Helvetica Neue"/>
              </a:rPr>
              <a:t>Paste a review to get overall sentiment plus the per-aspect breakdown, all from one review.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9AA0AA"/>
                </a:solidFill>
                <a:latin typeface="Helvetica Neue"/>
              </a:rPr>
              <a:t>- Mixed review: engine positive, fuel economy negative, price negative, comfort positive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9AA0AA"/>
                </a:solidFill>
                <a:latin typeface="Helvetica Neue"/>
              </a:rPr>
              <a:t>- Not bad: deep model correct, classical model wrong, the model gap shown live</a:t>
            </a:r>
          </a:p>
          <a:p>
            <a:pPr algn="l">
              <a:spcAft>
                <a:spcPts val="1800"/>
              </a:spcAft>
            </a:pPr>
            <a:r>
              <a:rPr sz="1700" b="0">
                <a:solidFill>
                  <a:srgbClr val="9AA0AA"/>
                </a:solidFill>
                <a:latin typeface="Helvetica Neue"/>
              </a:rPr>
              <a:t>- Heavy negation: the app abstains. Sarcasm: confidently wrong, the honest frontier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E8EAED"/>
                </a:solidFill>
                <a:latin typeface="Helvetica Neue"/>
              </a:rPr>
              <a:t>Try it live:  </a:t>
            </a:r>
            <a:r>
              <a:rPr sz="2000" b="1">
                <a:solidFill>
                  <a:srgbClr val="4A9EFF"/>
                </a:solidFill>
                <a:latin typeface="Helvetica Neue"/>
              </a:rPr>
              <a:t>https://HanfuZhao781-car-review-sentiment.hf.space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8EAED"/>
                </a:solidFill>
                <a:latin typeface="Helvetica Neue"/>
              </a:rPr>
              <a:t>Accurate, honest, and deployable. </a:t>
            </a:r>
            <a:r>
              <a:rPr sz="2200" b="1">
                <a:solidFill>
                  <a:srgbClr val="4A9EFF"/>
                </a:solidFill>
                <a:latin typeface="Helvetica Neue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